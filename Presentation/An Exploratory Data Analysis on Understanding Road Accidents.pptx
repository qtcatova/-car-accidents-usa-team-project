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0" r:id="rId4"/>
  </p:sldMasterIdLst>
  <p:notesMasterIdLst>
    <p:notesMasterId r:id="rId19"/>
  </p:notesMasterIdLst>
  <p:handoutMasterIdLst>
    <p:handoutMasterId r:id="rId20"/>
  </p:handoutMasterIdLst>
  <p:sldIdLst>
    <p:sldId id="306" r:id="rId5"/>
    <p:sldId id="284" r:id="rId6"/>
    <p:sldId id="285" r:id="rId7"/>
    <p:sldId id="286" r:id="rId8"/>
    <p:sldId id="287" r:id="rId9"/>
    <p:sldId id="299" r:id="rId10"/>
    <p:sldId id="302" r:id="rId11"/>
    <p:sldId id="300" r:id="rId12"/>
    <p:sldId id="304" r:id="rId13"/>
    <p:sldId id="296" r:id="rId14"/>
    <p:sldId id="305" r:id="rId15"/>
    <p:sldId id="309" r:id="rId16"/>
    <p:sldId id="310" r:id="rId17"/>
    <p:sldId id="30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100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9DE37-2591-3FBC-4415-0798EA9C95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19BB2-4044-DB46-8152-A53D1D6D25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5E036-44DE-4DB6-B39A-7EF029F6B033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84F4A-57D8-189B-8B9B-F927B9364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B0EFF-2C0C-B88B-55E6-897E08026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9B27-5061-43AE-B89C-0F9BAB5CFA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946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93C6C-DAFB-47FB-93A8-51530B0A0ED7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5A62F-2362-4553-A8D3-DDC42D2E5E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11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41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31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5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209E9CE-2942-4A86-3A8C-006E2D2CC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8B7B333-1163-44E5-0B33-2404A1971E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3FD8AE43-ED3E-49FA-EBF2-A28033515B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A7BD26E4-7A24-6519-F714-F2585C8E411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27CAB1CE-9C4E-5121-BA7D-9B1C34153A1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FDB9F8E1-87C6-C8B7-96FB-95FC6495AE3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FF26A6CB-DF38-D69F-E896-E8BD8C97B3F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9A2D6F96-616B-2B89-E762-407F4E6A73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4DF97B37-9C7B-E53C-CA49-D84CFDE1AC8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BF5912B-0BB9-094A-8DC7-B4F72384C0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2536FEB5-604E-3D7A-CD04-B5A85FECB9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5E578189-A8B7-C7AE-3D89-5CB98DAADCF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A7526236-D201-8447-1304-3B4E713B195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56C70E8C-41F6-53A3-F3F1-FFC89CE2989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50BED5EA-C9EB-DC89-D1AA-14AC161B4D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D494188-51A2-D811-7121-B4926461C26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A46E382D-B3FB-D977-5592-E0C6692119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2E2B6E0F-D4AB-E9AA-F221-BF5856CFBE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C3688A94-723C-8C82-3C68-A225AAC60D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0E23C295-71FA-DEC0-666C-BE0D1391BD6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E840D1C5-C340-32A8-D088-2CD3F7E0C42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9615E38F-89E4-918B-7AFE-44B5502C068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9F355EA-153C-8BC3-6065-ADEEC7C6742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622AE1E7-8BDB-512D-6CA0-940E0BD487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8D256E45-D692-4360-98A5-D91800451AA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1239C3D-0095-A8DE-2352-E1D30CBC84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EC96CF4B-1FEB-4C04-4DB4-94717F1BAA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4323F0DF-58EF-3028-70B6-341C6B01420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B490CEAC-E99A-CB47-FD98-6A8545D03B1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0E1110AF-79CE-3791-0963-98BD081F38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6AB5FF0E-980A-2206-A7A3-059A1066A1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1C1C7196-3023-1CB5-8D1D-62CD971FF31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AEF41FF0-E002-81C9-489F-23A0F05321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7C4E465-9B32-A5B0-F416-5ECCB1D483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D0E51285-7C53-173C-B2C4-912862F411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3C2B4283-B065-56BB-6AEC-08482916F8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7C1A3C2D-785B-431D-7EF6-BEC09BFC97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0F8F4312-A7A1-1050-22B0-CECFD86193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B87EDBAC-ED8B-7C78-6A46-A928AF0B6EF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3A55C09-6E07-47F4-E1BB-79A898CEA2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67EEF236-A58C-0932-005B-EA78BDACCE7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37ECDA57-352C-F309-CE3E-F901D98969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6561C17E-957E-18C8-2795-C2F241C6505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55F7D661-6BC9-4117-6802-4E145D65E7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6C75D290-041E-B3CA-BC63-23CC2D2E520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84AF9323-00BF-6A5B-E652-C550B415D9C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3F15E90C-A19D-0014-9397-E647B03A834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00E855B4-13A3-BE7D-37B3-1F61A3706A8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85E3ECCA-EEEA-9E07-A6B0-5CC1C2D2DB4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A81AEFDB-38BF-115F-1FC2-0219FCC4A0E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03491B8-23F6-9FAE-04A9-EC4F969D175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EEDB9867-25FC-FF50-A9A7-41776414AAC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8FDD18F7-EF0E-21CD-D8AE-BEC60CD5F53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AFA82AA3-6BCB-538E-0553-59E908CC084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28B05C2B-1232-DB44-B7BB-395FFD7149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78197992-9A49-906D-C907-0CAD4BC3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677A3EB3-BE1C-3C5D-E504-687848BA7E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9BC74EC-7001-CCA1-B5CE-C4E3DD9AC6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501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08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58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19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59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46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2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9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14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0047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539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3091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125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730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83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1A893-B564-D3AD-758F-B2955930EA6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83275" y="635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62030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4022" r:id="rId12"/>
    <p:sldLayoutId id="2147484023" r:id="rId13"/>
    <p:sldLayoutId id="2147484024" r:id="rId14"/>
    <p:sldLayoutId id="2147484025" r:id="rId15"/>
    <p:sldLayoutId id="214748402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C583-B07C-824B-0B6F-C270CC09E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A car that has been hit by a car accident&#10;&#10;AI-generated content may be incorrect.">
            <a:extLst>
              <a:ext uri="{FF2B5EF4-FFF2-40B4-BE49-F238E27FC236}">
                <a16:creationId xmlns:a16="http://schemas.microsoft.com/office/drawing/2014/main" id="{8985378A-D4AE-8859-FD8F-716F24436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A8A2A1-8AD3-163A-F3D4-9432FFEB7B59}"/>
              </a:ext>
            </a:extLst>
          </p:cNvPr>
          <p:cNvSpPr/>
          <p:nvPr/>
        </p:nvSpPr>
        <p:spPr>
          <a:xfrm>
            <a:off x="0" y="1717675"/>
            <a:ext cx="12192000" cy="3422650"/>
          </a:xfrm>
          <a:prstGeom prst="rect">
            <a:avLst/>
          </a:prstGeom>
          <a:solidFill>
            <a:schemeClr val="dk1">
              <a:alpha val="6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Exploratory Data Analysis on Understanding Road Accidents</a:t>
            </a:r>
          </a:p>
          <a:p>
            <a:pPr algn="ctr"/>
            <a:r>
              <a:rPr lang="en-US" sz="2800" dirty="0"/>
              <a:t>Key Weather Patterns &amp; Safety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694922-ACE0-28EA-D293-F38CF54A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095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1FB7-F567-BCF7-8B03-2E600699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 Black" panose="020B0004020202020204" pitchFamily="34" charset="0"/>
              </a:rPr>
              <a:t>Meet the Project Team </a:t>
            </a:r>
            <a:endParaRPr lang="en-US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0B8B1-B863-7490-13A9-CC530EA0D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Kalliopi </a:t>
            </a:r>
            <a:r>
              <a:rPr lang="en-US" dirty="0" err="1"/>
              <a:t>Giannoukou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Evangelia Katsanou</a:t>
            </a:r>
          </a:p>
          <a:p>
            <a:endParaRPr lang="en-US" dirty="0"/>
          </a:p>
          <a:p>
            <a:r>
              <a:rPr lang="en-US" dirty="0"/>
              <a:t>Athanasios </a:t>
            </a:r>
            <a:r>
              <a:rPr lang="en-US" dirty="0" err="1"/>
              <a:t>Sakatziadis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D9508-CA9E-F915-7EAD-8EC97440D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01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3EC07-B354-9F83-BB1D-EF626946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81025"/>
            <a:ext cx="8596668" cy="1320800"/>
          </a:xfrm>
        </p:spPr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371DE-A2A4-FD71-6F5B-21E5C4B4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b="1" dirty="0"/>
              <a:t>Problem Statement</a:t>
            </a:r>
            <a:r>
              <a:rPr lang="en-US" sz="2900" dirty="0"/>
              <a:t>: </a:t>
            </a:r>
          </a:p>
          <a:p>
            <a:r>
              <a:rPr lang="en-US" sz="2900" dirty="0"/>
              <a:t>Road accidents cause high costs, delays, and serious injuries. We want to understand what drives severe accidents and how to prevent them.</a:t>
            </a:r>
          </a:p>
          <a:p>
            <a:pPr marL="0" indent="0">
              <a:buNone/>
            </a:pPr>
            <a:r>
              <a:rPr lang="en-US" sz="2900" b="1" dirty="0"/>
              <a:t>Business Impact</a:t>
            </a:r>
            <a:r>
              <a:rPr lang="en-US" sz="2900" dirty="0"/>
              <a:t>: </a:t>
            </a:r>
          </a:p>
          <a:p>
            <a:r>
              <a:rPr lang="en-US" sz="2900" dirty="0"/>
              <a:t>Higher accident rates → higher premiums ,claim costs &amp; loss ratios </a:t>
            </a:r>
          </a:p>
          <a:p>
            <a:r>
              <a:rPr lang="en-US" sz="2900" dirty="0"/>
              <a:t> Increased liability risk</a:t>
            </a:r>
          </a:p>
          <a:p>
            <a:pPr marL="0" indent="0">
              <a:buNone/>
            </a:pPr>
            <a:r>
              <a:rPr lang="en-US" sz="2900" b="1" dirty="0"/>
              <a:t>Project Goal:</a:t>
            </a:r>
          </a:p>
          <a:p>
            <a:r>
              <a:rPr lang="en-US" sz="2900" dirty="0"/>
              <a:t>Understand how weather and conditions affect road accidents</a:t>
            </a:r>
          </a:p>
          <a:p>
            <a:r>
              <a:rPr lang="en-US" sz="2900" dirty="0"/>
              <a:t>Identify top states with the highest accident rates.</a:t>
            </a:r>
          </a:p>
          <a:p>
            <a:r>
              <a:rPr lang="en-US" sz="2900" dirty="0"/>
              <a:t>Recommend safety measures to reduce risk and costs.</a:t>
            </a:r>
          </a:p>
          <a:p>
            <a:r>
              <a:rPr lang="en-US" sz="2900" dirty="0"/>
              <a:t>Reduce costs, insurance premiums, and support awareness campaigns.</a:t>
            </a:r>
            <a:br>
              <a:rPr lang="en-US" sz="2600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E10C2-94B4-05E4-2D80-6385B696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43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8C34-1A59-0316-18EB-FB6EC922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0975"/>
            <a:ext cx="8596668" cy="1320800"/>
          </a:xfrm>
        </p:spPr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About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9398E-EE8C-8165-C06D-36F78B391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38" y="841375"/>
            <a:ext cx="8825659" cy="279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dirty="0"/>
              <a:t>We used a </a:t>
            </a:r>
            <a:r>
              <a:rPr lang="en-US" sz="1100" b="1" dirty="0"/>
              <a:t>nationwide U.S. Car Accident dataset</a:t>
            </a:r>
            <a:r>
              <a:rPr lang="en-US" sz="1100" dirty="0"/>
              <a:t> from Kaggle which contains </a:t>
            </a:r>
            <a:r>
              <a:rPr lang="en-US" sz="1100" b="1" dirty="0"/>
              <a:t>7.7 million accident records</a:t>
            </a:r>
            <a:r>
              <a:rPr lang="en-US" sz="1100" dirty="0"/>
              <a:t> from </a:t>
            </a:r>
            <a:r>
              <a:rPr lang="en-US" sz="1100" b="1" dirty="0"/>
              <a:t>49 U.S. states</a:t>
            </a:r>
            <a:r>
              <a:rPr lang="en-US" sz="1100" dirty="0"/>
              <a:t>. </a:t>
            </a:r>
          </a:p>
          <a:p>
            <a:pPr marL="0" indent="0">
              <a:buNone/>
            </a:pPr>
            <a:br>
              <a:rPr lang="en-US" sz="1100" dirty="0"/>
            </a:br>
            <a:r>
              <a:rPr lang="en-US" sz="1100" dirty="0"/>
              <a:t>Data was collected in </a:t>
            </a:r>
            <a:r>
              <a:rPr lang="en-US" sz="1100" b="1" dirty="0"/>
              <a:t>real time</a:t>
            </a:r>
            <a:r>
              <a:rPr lang="en-US" sz="1100" dirty="0"/>
              <a:t> (201</a:t>
            </a:r>
            <a:r>
              <a:rPr lang="el-GR" sz="1100" dirty="0"/>
              <a:t>7-2022</a:t>
            </a:r>
            <a:r>
              <a:rPr lang="en-US" sz="1100" dirty="0"/>
              <a:t>) from multiple sources such as: </a:t>
            </a:r>
          </a:p>
          <a:p>
            <a:pPr fontAlgn="base"/>
            <a:r>
              <a:rPr lang="en-US" sz="1100" dirty="0"/>
              <a:t>Traffic sensors</a:t>
            </a:r>
          </a:p>
          <a:p>
            <a:pPr fontAlgn="base"/>
            <a:r>
              <a:rPr lang="en-US" sz="1100" dirty="0"/>
              <a:t>Traffic cameras</a:t>
            </a:r>
          </a:p>
          <a:p>
            <a:pPr fontAlgn="base"/>
            <a:r>
              <a:rPr lang="en-US" sz="1100" dirty="0"/>
              <a:t>State &amp; national transportation departments</a:t>
            </a:r>
          </a:p>
          <a:p>
            <a:pPr fontAlgn="base"/>
            <a:r>
              <a:rPr lang="en-US" sz="1100" dirty="0"/>
              <a:t>Law enforcement reports</a:t>
            </a:r>
          </a:p>
          <a:p>
            <a:pPr marL="0" indent="0" fontAlgn="base">
              <a:buNone/>
            </a:pPr>
            <a:endParaRPr lang="en-US" sz="1100" dirty="0"/>
          </a:p>
          <a:p>
            <a:pPr marL="0" indent="0" fontAlgn="base">
              <a:buNone/>
            </a:pPr>
            <a:r>
              <a:rPr lang="en-US" sz="1100" dirty="0"/>
              <a:t>And it includes key information such as:</a:t>
            </a:r>
          </a:p>
          <a:p>
            <a:pPr marL="0" indent="0" fontAlgn="base">
              <a:buNone/>
            </a:pPr>
            <a:r>
              <a:rPr lang="en-US" sz="1100" dirty="0"/>
              <a:t>Location, time, weather, road conditions, and accident severity</a:t>
            </a:r>
          </a:p>
          <a:p>
            <a:endParaRPr lang="en-US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E1394626-6C6D-E165-63D1-24ED32E61C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5152481"/>
              </p:ext>
            </p:extLst>
          </p:nvPr>
        </p:nvGraphicFramePr>
        <p:xfrm>
          <a:off x="391584" y="3905250"/>
          <a:ext cx="10445561" cy="2002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422">
                  <a:extLst>
                    <a:ext uri="{9D8B030D-6E8A-4147-A177-3AD203B41FA5}">
                      <a16:colId xmlns:a16="http://schemas.microsoft.com/office/drawing/2014/main" val="646255624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516341363"/>
                    </a:ext>
                  </a:extLst>
                </a:gridCol>
                <a:gridCol w="949679">
                  <a:extLst>
                    <a:ext uri="{9D8B030D-6E8A-4147-A177-3AD203B41FA5}">
                      <a16:colId xmlns:a16="http://schemas.microsoft.com/office/drawing/2014/main" val="943413943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1260923806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2074945378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4112639223"/>
                    </a:ext>
                  </a:extLst>
                </a:gridCol>
                <a:gridCol w="850160">
                  <a:extLst>
                    <a:ext uri="{9D8B030D-6E8A-4147-A177-3AD203B41FA5}">
                      <a16:colId xmlns:a16="http://schemas.microsoft.com/office/drawing/2014/main" val="1597947829"/>
                    </a:ext>
                  </a:extLst>
                </a:gridCol>
                <a:gridCol w="1317123">
                  <a:extLst>
                    <a:ext uri="{9D8B030D-6E8A-4147-A177-3AD203B41FA5}">
                      <a16:colId xmlns:a16="http://schemas.microsoft.com/office/drawing/2014/main" val="1038105535"/>
                    </a:ext>
                  </a:extLst>
                </a:gridCol>
                <a:gridCol w="1328102">
                  <a:extLst>
                    <a:ext uri="{9D8B030D-6E8A-4147-A177-3AD203B41FA5}">
                      <a16:colId xmlns:a16="http://schemas.microsoft.com/office/drawing/2014/main" val="2171482358"/>
                    </a:ext>
                  </a:extLst>
                </a:gridCol>
                <a:gridCol w="1047551">
                  <a:extLst>
                    <a:ext uri="{9D8B030D-6E8A-4147-A177-3AD203B41FA5}">
                      <a16:colId xmlns:a16="http://schemas.microsoft.com/office/drawing/2014/main" val="2341443183"/>
                    </a:ext>
                  </a:extLst>
                </a:gridCol>
                <a:gridCol w="954414">
                  <a:extLst>
                    <a:ext uri="{9D8B030D-6E8A-4147-A177-3AD203B41FA5}">
                      <a16:colId xmlns:a16="http://schemas.microsoft.com/office/drawing/2014/main" val="3963568626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1042885984"/>
                    </a:ext>
                  </a:extLst>
                </a:gridCol>
              </a:tblGrid>
              <a:tr h="2490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Severity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Start_Time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State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City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County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Visibility(mi)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Wind_Speed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(mph)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Weather_Condition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Sunrise_Sunset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Traffic_Signal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Year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88995116"/>
                  </a:ext>
                </a:extLst>
              </a:tr>
              <a:tr h="336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0:17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 Cerrito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 Costa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Partly Cloudy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598088"/>
                  </a:ext>
                </a:extLst>
              </a:tr>
              <a:tr h="3819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0:26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Berkeley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Alameda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Overcast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380935"/>
                  </a:ext>
                </a:extLst>
              </a:tr>
              <a:tr h="336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0:53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Oakley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 Costa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Partly Cloudy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6430985"/>
                  </a:ext>
                </a:extLst>
              </a:tr>
              <a:tr h="336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1:18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Richmond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 Costa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Mostly Cloudy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39635050"/>
                  </a:ext>
                </a:extLst>
              </a:tr>
              <a:tr h="336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1:20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 Cerrito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 Costa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Mostly Cloudy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56290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56F39-27F7-7657-61A2-97F83E0F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557A-0247-C300-BED5-EC07CD5E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811" y="709566"/>
            <a:ext cx="8761413" cy="706964"/>
          </a:xfrm>
        </p:spPr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Tools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7F1FC-8049-4543-037F-7B5418C10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13" y="1655544"/>
            <a:ext cx="963401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Python</a:t>
            </a:r>
            <a:r>
              <a:rPr lang="en-US" dirty="0"/>
              <a:t>  — main environment for analysis 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Pandas</a:t>
            </a:r>
            <a:r>
              <a:rPr lang="en-US" dirty="0"/>
              <a:t> — for cleaning and exploring the data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Matplotlib / Seaborn</a:t>
            </a:r>
            <a:r>
              <a:rPr lang="en-US" dirty="0"/>
              <a:t> — for simple, clear visualizations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/>
              <a:t> — to organize analysis and generate graphs</a:t>
            </a:r>
          </a:p>
          <a:p>
            <a:endParaRPr lang="en-US" dirty="0"/>
          </a:p>
          <a:p>
            <a:r>
              <a:rPr lang="en-US" b="1" dirty="0"/>
              <a:t>GitHub</a:t>
            </a:r>
            <a:r>
              <a:rPr lang="en-US" dirty="0"/>
              <a:t> — Version control and collaboration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6" name="Picture 5" descr="A black background with a yellow and white logo&#10;&#10;AI-generated content may be incorrect.">
            <a:extLst>
              <a:ext uri="{FF2B5EF4-FFF2-40B4-BE49-F238E27FC236}">
                <a16:creationId xmlns:a16="http://schemas.microsoft.com/office/drawing/2014/main" id="{F4648FF5-128E-1DAA-36F2-8676A7B64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588" y="1344187"/>
            <a:ext cx="1848682" cy="924341"/>
          </a:xfrm>
          <a:prstGeom prst="rect">
            <a:avLst/>
          </a:prstGeom>
        </p:spPr>
      </p:pic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5F6D89E1-06BD-9837-8983-17A3DC75B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88" y="754084"/>
            <a:ext cx="1319124" cy="659562"/>
          </a:xfrm>
          <a:prstGeom prst="rect">
            <a:avLst/>
          </a:prstGeom>
        </p:spPr>
      </p:pic>
      <p:pic>
        <p:nvPicPr>
          <p:cNvPr id="16" name="Picture 15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0AC9E3D7-7BA8-1AAC-D880-126E09EFE0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218" y="4250075"/>
            <a:ext cx="1904762" cy="952381"/>
          </a:xfrm>
          <a:prstGeom prst="rect">
            <a:avLst/>
          </a:prstGeom>
        </p:spPr>
      </p:pic>
      <p:pic>
        <p:nvPicPr>
          <p:cNvPr id="18" name="Picture 17" descr="A blue and black text&#10;&#10;AI-generated content may be incorrect.">
            <a:extLst>
              <a:ext uri="{FF2B5EF4-FFF2-40B4-BE49-F238E27FC236}">
                <a16:creationId xmlns:a16="http://schemas.microsoft.com/office/drawing/2014/main" id="{21E71E24-CC77-320E-CAF9-9383BEACCB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908" y="2060737"/>
            <a:ext cx="1904762" cy="924341"/>
          </a:xfrm>
          <a:prstGeom prst="rect">
            <a:avLst/>
          </a:prstGeom>
        </p:spPr>
      </p:pic>
      <p:pic>
        <p:nvPicPr>
          <p:cNvPr id="20" name="Picture 19" descr="A logo with a circular object in the center&#10;&#10;AI-generated content may be incorrect.">
            <a:extLst>
              <a:ext uri="{FF2B5EF4-FFF2-40B4-BE49-F238E27FC236}">
                <a16:creationId xmlns:a16="http://schemas.microsoft.com/office/drawing/2014/main" id="{4665D1D7-8D75-4DF9-A9F4-E930444611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09516"/>
            <a:ext cx="1904762" cy="952381"/>
          </a:xfrm>
          <a:prstGeom prst="rect">
            <a:avLst/>
          </a:prstGeom>
        </p:spPr>
      </p:pic>
      <p:pic>
        <p:nvPicPr>
          <p:cNvPr id="22" name="Picture 21" descr="A logo with blue text&#10;&#10;AI-generated content may be incorrect.">
            <a:extLst>
              <a:ext uri="{FF2B5EF4-FFF2-40B4-BE49-F238E27FC236}">
                <a16:creationId xmlns:a16="http://schemas.microsoft.com/office/drawing/2014/main" id="{43FCC8C9-4233-6020-863C-22C033EA98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847" y="2899530"/>
            <a:ext cx="1544702" cy="7723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43EAB-1A62-4C35-3170-C0503244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54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ccident statistics&#10;&#10;AI-generated content may be incorrect.">
            <a:extLst>
              <a:ext uri="{FF2B5EF4-FFF2-40B4-BE49-F238E27FC236}">
                <a16:creationId xmlns:a16="http://schemas.microsoft.com/office/drawing/2014/main" id="{C67BE178-D395-F183-30CF-6686788D9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7" y="1000125"/>
            <a:ext cx="11330257" cy="53985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2C450B-54F8-A3DB-9D12-4BDBD8424890}"/>
              </a:ext>
            </a:extLst>
          </p:cNvPr>
          <p:cNvSpPr txBox="1"/>
          <p:nvPr/>
        </p:nvSpPr>
        <p:spPr>
          <a:xfrm>
            <a:off x="2148320" y="160984"/>
            <a:ext cx="743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 10 States with largest number of accidents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CBBD02-7729-8878-B003-6C4C95D5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365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54438-10BB-91CE-F880-27F417808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4" y="819150"/>
            <a:ext cx="8292927" cy="11112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Comparison 2017-2019 &amp; 2020-2022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A graph of accident statistics&#10;&#10;AI-generated content may be incorrect.">
            <a:extLst>
              <a:ext uri="{FF2B5EF4-FFF2-40B4-BE49-F238E27FC236}">
                <a16:creationId xmlns:a16="http://schemas.microsoft.com/office/drawing/2014/main" id="{1F2D3E51-2D5C-EDEE-44E3-D27CD5F47E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4531"/>
            <a:ext cx="5915025" cy="3204694"/>
          </a:xfrm>
          <a:prstGeom prst="rect">
            <a:avLst/>
          </a:prstGeom>
        </p:spPr>
      </p:pic>
      <p:pic>
        <p:nvPicPr>
          <p:cNvPr id="7" name="Content Placeholder 6" descr="A graph of accident statistics&#10;&#10;AI-generated content may be incorrect.">
            <a:extLst>
              <a:ext uri="{FF2B5EF4-FFF2-40B4-BE49-F238E27FC236}">
                <a16:creationId xmlns:a16="http://schemas.microsoft.com/office/drawing/2014/main" id="{DE54A8AE-F869-C8A6-A3C1-8195AA72EE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025" y="1930400"/>
            <a:ext cx="5930360" cy="32046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B8A812-17DE-D29F-890B-971E4829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4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7B09BB57-8345-7BC2-92F9-45DE47E09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08" y="781050"/>
            <a:ext cx="9157270" cy="47529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865C67-FE63-763D-876B-DD9757A7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780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9CF2-9397-0114-1992-D951E3BA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of severity by Weather Condition between periods 2017-2019 &amp; 2020-2022</a:t>
            </a:r>
          </a:p>
        </p:txBody>
      </p:sp>
      <p:pic>
        <p:nvPicPr>
          <p:cNvPr id="6" name="Content Placeholder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DA0603D-57CB-2E67-2416-2D54E1165D0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796" y="2600325"/>
            <a:ext cx="4929721" cy="2590547"/>
          </a:xfrm>
          <a:prstGeom prst="rect">
            <a:avLst/>
          </a:prstGeom>
        </p:spPr>
      </p:pic>
      <p:pic>
        <p:nvPicPr>
          <p:cNvPr id="7" name="Content Placeholder 6" descr="A graph of a graph&#10;&#10;AI-generated content may be incorrect.">
            <a:extLst>
              <a:ext uri="{FF2B5EF4-FFF2-40B4-BE49-F238E27FC236}">
                <a16:creationId xmlns:a16="http://schemas.microsoft.com/office/drawing/2014/main" id="{D2BA8769-12FC-C3CC-857A-31290FF6E2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668" y="2610644"/>
            <a:ext cx="4749800" cy="25897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ACEE0-3044-5161-9DDE-E207D527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969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8301227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35C26-7E5B-FECD-60F0-87C8E7D9BD47}"/>
              </a:ext>
            </a:extLst>
          </p:cNvPr>
          <p:cNvSpPr txBox="1"/>
          <p:nvPr/>
        </p:nvSpPr>
        <p:spPr>
          <a:xfrm>
            <a:off x="1471516" y="511283"/>
            <a:ext cx="614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Top 10 States 2017 - 2022</a:t>
            </a:r>
          </a:p>
        </p:txBody>
      </p:sp>
      <p:pic>
        <p:nvPicPr>
          <p:cNvPr id="8" name="Content Placeholder 7" descr="A red squares with black text&#10;&#10;AI-generated content may be incorrect.">
            <a:extLst>
              <a:ext uri="{FF2B5EF4-FFF2-40B4-BE49-F238E27FC236}">
                <a16:creationId xmlns:a16="http://schemas.microsoft.com/office/drawing/2014/main" id="{52D312B9-884E-6981-A7EC-8046BBD03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516" y="1303146"/>
            <a:ext cx="6466529" cy="466498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0EF09-5AD5-D368-E8A5-B67AEAF5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9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B085-DC13-89FA-D223-1C539EE3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409" y="232658"/>
            <a:ext cx="8596668" cy="1339850"/>
          </a:xfrm>
        </p:spPr>
        <p:txBody>
          <a:bodyPr>
            <a:normAutofit/>
          </a:bodyPr>
          <a:lstStyle/>
          <a:p>
            <a:r>
              <a:rPr lang="en-US" dirty="0"/>
              <a:t>Comparison between periods 2017-2019 &amp; 2020-2022</a:t>
            </a:r>
          </a:p>
        </p:txBody>
      </p:sp>
      <p:pic>
        <p:nvPicPr>
          <p:cNvPr id="9" name="Picture 8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AB15ED1-17EB-39EF-57D6-6847B7057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7" y="1414272"/>
            <a:ext cx="5596466" cy="4029456"/>
          </a:xfrm>
          <a:prstGeom prst="rect">
            <a:avLst/>
          </a:prstGeom>
        </p:spPr>
      </p:pic>
      <p:pic>
        <p:nvPicPr>
          <p:cNvPr id="28" name="Content Placeholder 27" descr="A chart of a number of red squares&#10;&#10;AI-generated content may be incorrect.">
            <a:extLst>
              <a:ext uri="{FF2B5EF4-FFF2-40B4-BE49-F238E27FC236}">
                <a16:creationId xmlns:a16="http://schemas.microsoft.com/office/drawing/2014/main" id="{26875E08-809A-CCFA-0698-A0FBBC9A7E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236" y="1414272"/>
            <a:ext cx="5761230" cy="4029456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AE5B7C-4CA3-E7E3-B8CB-4F034314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017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CEA62-0673-8B0A-E5A7-30DF87920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Κ</a:t>
            </a:r>
            <a:r>
              <a:rPr lang="en-US" dirty="0" err="1"/>
              <a:t>ey</a:t>
            </a:r>
            <a:r>
              <a:rPr lang="en-US" dirty="0"/>
              <a:t>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84574-7526-8A27-A09B-AB5EF8DD3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347019"/>
            <a:ext cx="8693899" cy="4694343"/>
          </a:xfrm>
        </p:spPr>
        <p:txBody>
          <a:bodyPr/>
          <a:lstStyle/>
          <a:p>
            <a:r>
              <a:rPr lang="en-US" dirty="0"/>
              <a:t>High accident concentration in high-population / high-traffic states</a:t>
            </a:r>
          </a:p>
          <a:p>
            <a:r>
              <a:rPr lang="en-US" dirty="0"/>
              <a:t>Severity is not solely weather-dependent</a:t>
            </a:r>
          </a:p>
          <a:p>
            <a:r>
              <a:rPr lang="en-US" dirty="0"/>
              <a:t>Weather conditions like Clear, Overcast, Scattered Clouds, and Light Rain are associated with higher severity in many states - notable because these are not extreme weather event</a:t>
            </a:r>
          </a:p>
          <a:p>
            <a:r>
              <a:rPr lang="en-US" dirty="0"/>
              <a:t>Moderate severity is the most common and increases costs &amp; claims, not fatalities</a:t>
            </a:r>
          </a:p>
          <a:p>
            <a:r>
              <a:rPr lang="en-US" dirty="0"/>
              <a:t>Good weather → more accidents, bad weather → fewer but more severe</a:t>
            </a:r>
          </a:p>
          <a:p>
            <a:r>
              <a:rPr lang="en-US" dirty="0"/>
              <a:t>Infrastructure &amp; traffic likely major factors in accident patterns</a:t>
            </a:r>
          </a:p>
          <a:p>
            <a:r>
              <a:rPr lang="en-US" dirty="0"/>
              <a:t>South Carolina &amp; Oregon show lower severity → possibly due to better road infrastructure or lower traffic volumes.</a:t>
            </a:r>
          </a:p>
          <a:p>
            <a:r>
              <a:rPr lang="en-US" dirty="0"/>
              <a:t>States that rarely see snow tend to have more accidents during bad weather, likely due to drivers being less experienced in adverse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E8A7A-EF3B-64F8-E834-EBAC1F92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654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DF5DA-94A6-6545-A003-8EEB80E3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35010-28A7-C2FF-4A40-98D2E9C0E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2182762"/>
            <a:ext cx="8792221" cy="4428872"/>
          </a:xfrm>
        </p:spPr>
        <p:txBody>
          <a:bodyPr/>
          <a:lstStyle/>
          <a:p>
            <a:r>
              <a:rPr lang="en-US" dirty="0"/>
              <a:t>Focus on High-Traffic / High-Population States</a:t>
            </a:r>
          </a:p>
          <a:p>
            <a:r>
              <a:rPr lang="en-US" dirty="0"/>
              <a:t>Implement measures to reduce property damage and claims for Severity 2 accidents.</a:t>
            </a:r>
          </a:p>
          <a:p>
            <a:r>
              <a:rPr lang="en-US" dirty="0"/>
              <a:t>Focus on driver education for common accident scenarios, including mild weather conditions where accidents are unexpectedly severe.</a:t>
            </a:r>
          </a:p>
          <a:p>
            <a:r>
              <a:rPr lang="en-US" dirty="0"/>
              <a:t> Educate drivers in states that rarely experience snow or ice on winter driving safety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C3431-4774-6BAF-341E-E9E346EA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692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0" name="Picture 9" descr="A person and person standing next to a broken down car&#10;&#10;AI-generated content may be incorrect.">
            <a:extLst>
              <a:ext uri="{FF2B5EF4-FFF2-40B4-BE49-F238E27FC236}">
                <a16:creationId xmlns:a16="http://schemas.microsoft.com/office/drawing/2014/main" id="{52315C14-9595-8710-B008-82A6D654403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1" t="9091" r="18294"/>
          <a:stretch>
            <a:fillRect/>
          </a:stretch>
        </p:blipFill>
        <p:spPr>
          <a:xfrm>
            <a:off x="5123543" y="-1"/>
            <a:ext cx="706528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67E768-35BE-69B3-51A3-6249180B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170" y="2391350"/>
            <a:ext cx="4047802" cy="8834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THANK YOU!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2B4940-D7E2-1278-AB38-077E302F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0220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2E9C82-64B6-4F9A-A148-8AB14CA824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0AD0CF-41C9-4CE6-A693-309F7D7F223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EAED9DC7-5694-42C0-9E34-6DDAF90165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</TotalTime>
  <Words>579</Words>
  <Application>Microsoft Office PowerPoint</Application>
  <PresentationFormat>Widescreen</PresentationFormat>
  <Paragraphs>148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Black</vt:lpstr>
      <vt:lpstr>Arial</vt:lpstr>
      <vt:lpstr>Calibri</vt:lpstr>
      <vt:lpstr>Trebuchet MS</vt:lpstr>
      <vt:lpstr>Wingdings 3</vt:lpstr>
      <vt:lpstr>Facet</vt:lpstr>
      <vt:lpstr>PowerPoint Presentation</vt:lpstr>
      <vt:lpstr>Meet the Project Team </vt:lpstr>
      <vt:lpstr>Project Scope</vt:lpstr>
      <vt:lpstr>About the Dataset</vt:lpstr>
      <vt:lpstr>Tools Overview</vt:lpstr>
      <vt:lpstr>PowerPoint Presentation</vt:lpstr>
      <vt:lpstr>Comparison 2017-2019 &amp; 2020-2022 </vt:lpstr>
      <vt:lpstr>PowerPoint Presentation</vt:lpstr>
      <vt:lpstr>Comparison of severity by Weather Condition between periods 2017-2019 &amp; 2020-2022</vt:lpstr>
      <vt:lpstr>PowerPoint Presentation</vt:lpstr>
      <vt:lpstr>Comparison between periods 2017-2019 &amp; 2020-2022</vt:lpstr>
      <vt:lpstr>Κey Insights</vt:lpstr>
      <vt:lpstr>Recommendations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KATSANOU, EVANGELIA (Allianz Partners Hellas)</dc:creator>
  <cp:lastModifiedBy>KATSANOU, EVANGELIA (Allianz Partners Hellas)</cp:lastModifiedBy>
  <cp:revision>21</cp:revision>
  <dcterms:created xsi:type="dcterms:W3CDTF">2025-12-06T10:40:37Z</dcterms:created>
  <dcterms:modified xsi:type="dcterms:W3CDTF">2025-12-09T14:10:42Z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863bc15e-e7bf-41c1-bdb3-03882d8a2e2c_Enabled">
    <vt:lpwstr>true</vt:lpwstr>
  </property>
  <property fmtid="{D5CDD505-2E9C-101B-9397-08002B2CF9AE}" pid="4" name="MSIP_Label_863bc15e-e7bf-41c1-bdb3-03882d8a2e2c_SetDate">
    <vt:lpwstr>2025-12-06T11:16:53Z</vt:lpwstr>
  </property>
  <property fmtid="{D5CDD505-2E9C-101B-9397-08002B2CF9AE}" pid="5" name="MSIP_Label_863bc15e-e7bf-41c1-bdb3-03882d8a2e2c_Method">
    <vt:lpwstr>Privileged</vt:lpwstr>
  </property>
  <property fmtid="{D5CDD505-2E9C-101B-9397-08002B2CF9AE}" pid="6" name="MSIP_Label_863bc15e-e7bf-41c1-bdb3-03882d8a2e2c_Name">
    <vt:lpwstr>863bc15e-e7bf-41c1-bdb3-03882d8a2e2c</vt:lpwstr>
  </property>
  <property fmtid="{D5CDD505-2E9C-101B-9397-08002B2CF9AE}" pid="7" name="MSIP_Label_863bc15e-e7bf-41c1-bdb3-03882d8a2e2c_SiteId">
    <vt:lpwstr>6e06e42d-6925-47c6-b9e7-9581c7ca302a</vt:lpwstr>
  </property>
  <property fmtid="{D5CDD505-2E9C-101B-9397-08002B2CF9AE}" pid="8" name="MSIP_Label_863bc15e-e7bf-41c1-bdb3-03882d8a2e2c_ActionId">
    <vt:lpwstr>a22c6826-6a66-4668-a30e-5082536691ff</vt:lpwstr>
  </property>
  <property fmtid="{D5CDD505-2E9C-101B-9397-08002B2CF9AE}" pid="9" name="MSIP_Label_863bc15e-e7bf-41c1-bdb3-03882d8a2e2c_ContentBits">
    <vt:lpwstr>1</vt:lpwstr>
  </property>
  <property fmtid="{D5CDD505-2E9C-101B-9397-08002B2CF9AE}" pid="10" name="MSIP_Label_863bc15e-e7bf-41c1-bdb3-03882d8a2e2c_Tag">
    <vt:lpwstr>10, 0, 1, 1</vt:lpwstr>
  </property>
  <property fmtid="{D5CDD505-2E9C-101B-9397-08002B2CF9AE}" pid="11" name="ClassificationContentMarkingHeaderLocations">
    <vt:lpwstr>BohemianVTI:66</vt:lpwstr>
  </property>
  <property fmtid="{D5CDD505-2E9C-101B-9397-08002B2CF9AE}" pid="12" name="ClassificationContentMarkingHeaderText">
    <vt:lpwstr>Internal</vt:lpwstr>
  </property>
</Properties>
</file>